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FE3D6"/>
          </a:solidFill>
          <a:ln>
            <a:solidFill>
              <a:srgbClr val="CFE3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475720" y="6656832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4B5E57"/>
                </a:solidFill>
                <a:latin typeface="Aptos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4B5E57"/>
                </a:solidFill>
                <a:latin typeface="Aptos"/>
              </a:rPr>
              <a:t>ABU RAYHON BERUNIY NOMIDAGI
URGANCH DAVLAT UNIVERSITETI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68580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1B4134"/>
                </a:solidFill>
                <a:latin typeface="Aptos"/>
              </a:rPr>
              <a:t>YOSHLAR YETAKCHILIGIGA
NOMZOD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154680"/>
            <a:ext cx="6217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6CD6"/>
                </a:solidFill>
                <a:latin typeface="Aptos"/>
              </a:rPr>
              <a:t>5-MUHiM TASHABBUSNING 5-YO‘NALISHI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703320"/>
            <a:ext cx="7040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B4134"/>
                </a:solidFill>
                <a:latin typeface="Aptos"/>
              </a:rPr>
              <a:t>BOBOJONOV A'LOBEK OMON O‘G‘LI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279392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B5E57"/>
                </a:solidFill>
                <a:latin typeface="Aptos"/>
              </a:rPr>
              <a:t>Iqtidorli talabalar jamoasi a’zosi  •  3-kurs</a:t>
            </a:r>
          </a:p>
        </p:txBody>
      </p:sp>
      <p:pic>
        <p:nvPicPr>
          <p:cNvPr id="19" name="Рисунок 18" descr="Изображение выглядит как текст, Графика, графический дизайн, Шрифт&#10;&#10;AI-generated content may be incorrect.">
            <a:extLst>
              <a:ext uri="{FF2B5EF4-FFF2-40B4-BE49-F238E27FC236}">
                <a16:creationId xmlns:a16="http://schemas.microsoft.com/office/drawing/2014/main" id="{F1497351-EAD4-D7D5-7746-FBAC348C69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692150"/>
            <a:ext cx="3906520" cy="1953260"/>
          </a:xfrm>
          <a:prstGeom prst="rect">
            <a:avLst/>
          </a:prstGeom>
        </p:spPr>
      </p:pic>
      <p:pic>
        <p:nvPicPr>
          <p:cNvPr id="21" name="Рисунок 20" descr="Изображение выглядит как Графика, Шрифт, логотип, графический дизайн&#10;&#10;AI-generated content may be incorrect.">
            <a:extLst>
              <a:ext uri="{FF2B5EF4-FFF2-40B4-BE49-F238E27FC236}">
                <a16:creationId xmlns:a16="http://schemas.microsoft.com/office/drawing/2014/main" id="{151F2F7B-A6BF-CC5F-3AA6-DB6923E2C0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990595"/>
            <a:ext cx="3693161" cy="184658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FE3D6"/>
          </a:solidFill>
          <a:ln>
            <a:solidFill>
              <a:srgbClr val="CFE3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475720" y="6656832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4B5E57"/>
                </a:solidFill>
                <a:latin typeface="Apto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38912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4134"/>
                </a:solidFill>
                <a:latin typeface="Aptos"/>
              </a:rPr>
              <a:t>NOMZOD HAQIDA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078992"/>
            <a:ext cx="1005840" cy="54864"/>
          </a:xfrm>
          <a:prstGeom prst="rect">
            <a:avLst/>
          </a:prstGeom>
          <a:solidFill>
            <a:srgbClr val="0A6CD6"/>
          </a:solidFill>
          <a:ln>
            <a:solidFill>
              <a:srgbClr val="0A6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20700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B5E57"/>
                </a:solidFill>
                <a:latin typeface="Aptos"/>
              </a:rPr>
              <a:t>Asosiy ma’lumotlar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783080"/>
            <a:ext cx="6583680" cy="4160520"/>
          </a:xfrm>
          <a:prstGeom prst="roundRect">
            <a:avLst/>
          </a:prstGeom>
          <a:solidFill>
            <a:srgbClr val="EFF5F1"/>
          </a:solidFill>
          <a:ln>
            <a:solidFill>
              <a:srgbClr val="EFF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993392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B5E57"/>
                </a:solidFill>
                <a:latin typeface="Aptos"/>
              </a:rPr>
              <a:t>F.I.Sh.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965960"/>
            <a:ext cx="4526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B4134"/>
                </a:solidFill>
                <a:latin typeface="Aptos"/>
              </a:rPr>
              <a:t>Bobojonov A'lobek Omon o‘g‘li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B5E57"/>
                </a:solidFill>
                <a:latin typeface="Aptos"/>
              </a:rPr>
              <a:t>Universitet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2478024"/>
            <a:ext cx="4526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B4134"/>
                </a:solidFill>
                <a:latin typeface="Aptos"/>
              </a:rPr>
              <a:t>Urganch davlat universiteti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17520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B5E57"/>
                </a:solidFill>
                <a:latin typeface="Aptos"/>
              </a:rPr>
              <a:t>Yo‘nalish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2990088"/>
            <a:ext cx="4526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B4134"/>
                </a:solidFill>
                <a:latin typeface="Aptos"/>
              </a:rPr>
              <a:t>Intellektual ilmlar va texnologiyalar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529584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B5E57"/>
                </a:solidFill>
                <a:latin typeface="Aptos"/>
              </a:rPr>
              <a:t>Kurs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3502152"/>
            <a:ext cx="4526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B4134"/>
                </a:solidFill>
                <a:latin typeface="Aptos"/>
              </a:rPr>
              <a:t>3-kurs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041648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B5E57"/>
                </a:solidFill>
                <a:latin typeface="Aptos"/>
              </a:rPr>
              <a:t>Joriy faoliyat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4014215"/>
            <a:ext cx="4526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B4134"/>
                </a:solidFill>
                <a:latin typeface="Aptos"/>
              </a:rPr>
              <a:t>Iqtidorli talabalar jamoasi a’zosi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553712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B5E57"/>
                </a:solidFill>
                <a:latin typeface="Aptos"/>
              </a:rPr>
              <a:t>Tillar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4526280"/>
            <a:ext cx="4526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B4134"/>
                </a:solidFill>
                <a:latin typeface="Aptos"/>
              </a:rPr>
              <a:t>O‘zbek, ingliz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065776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B5E57"/>
                </a:solidFill>
                <a:latin typeface="Aptos"/>
              </a:rPr>
              <a:t>Tug‘ilgan sana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40280" y="5038344"/>
            <a:ext cx="4526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B4134"/>
                </a:solidFill>
                <a:latin typeface="Aptos"/>
              </a:rPr>
              <a:t>12.07.2006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43800" y="1783080"/>
            <a:ext cx="3977639" cy="4160520"/>
          </a:xfrm>
          <a:prstGeom prst="roundRect">
            <a:avLst/>
          </a:prstGeom>
          <a:solidFill>
            <a:srgbClr val="EAF3FC"/>
          </a:solidFill>
          <a:ln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09560" y="2148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6CD6"/>
                </a:solidFill>
                <a:latin typeface="Aptos"/>
              </a:rPr>
              <a:t>ASOSIY MAQSAD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9560" y="2697480"/>
            <a:ext cx="3063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1B4134"/>
                </a:solidFill>
                <a:latin typeface="Aptos"/>
              </a:rPr>
              <a:t>Talabalar uchun
imkoniyatlarni ko‘paytirish,
ilmiy va amaliy faoliyatni
qo‘llab-quvvatlash.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9560" y="489204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B5E57"/>
                </a:solidFill>
                <a:latin typeface="Aptos"/>
              </a:rPr>
              <a:t>5-muhim tashabbusning 5-yo‘nalishi doirasida.</a:t>
            </a:r>
          </a:p>
        </p:txBody>
      </p:sp>
      <p:pic>
        <p:nvPicPr>
          <p:cNvPr id="27" name="Рисунок 26" descr="Изображение выглядит как текст, Графика, графический дизайн, Шрифт&#10;&#10;AI-generated content may be incorrect.">
            <a:extLst>
              <a:ext uri="{FF2B5EF4-FFF2-40B4-BE49-F238E27FC236}">
                <a16:creationId xmlns:a16="http://schemas.microsoft.com/office/drawing/2014/main" id="{0C75D1AC-D0D1-6733-9D82-41B1ACAF84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680" y="305054"/>
            <a:ext cx="985520" cy="492760"/>
          </a:xfrm>
          <a:prstGeom prst="rect">
            <a:avLst/>
          </a:prstGeom>
        </p:spPr>
      </p:pic>
      <p:pic>
        <p:nvPicPr>
          <p:cNvPr id="28" name="Рисунок 27" descr="Изображение выглядит как Графика, Шрифт, логотип, графический дизайн&#10;&#10;AI-generated content may be incorrect.">
            <a:extLst>
              <a:ext uri="{FF2B5EF4-FFF2-40B4-BE49-F238E27FC236}">
                <a16:creationId xmlns:a16="http://schemas.microsoft.com/office/drawing/2014/main" id="{F778937C-7328-D315-0CE5-7219CF000D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080" y="310134"/>
            <a:ext cx="975359" cy="487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FE3D6"/>
          </a:solidFill>
          <a:ln>
            <a:solidFill>
              <a:srgbClr val="CFE3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475720" y="6656832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4B5E57"/>
                </a:solidFill>
                <a:latin typeface="Apto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38912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4134"/>
                </a:solidFill>
                <a:latin typeface="Aptos"/>
              </a:rPr>
              <a:t>YUTUQLAR VA TAJRIBA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078992"/>
            <a:ext cx="1005840" cy="54864"/>
          </a:xfrm>
          <a:prstGeom prst="rect">
            <a:avLst/>
          </a:prstGeom>
          <a:solidFill>
            <a:srgbClr val="0A6CD6"/>
          </a:solidFill>
          <a:ln>
            <a:solidFill>
              <a:srgbClr val="0A6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20700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B5E57"/>
                </a:solidFill>
                <a:latin typeface="Aptos"/>
              </a:rPr>
              <a:t>Hackathonlar, xalqaro dasturlar va amaliy loyihalar</a:t>
            </a:r>
          </a:p>
        </p:txBody>
      </p:sp>
      <p:pic>
        <p:nvPicPr>
          <p:cNvPr id="8" name="Picture 7" descr="2ef8858f-eeb0-4358-baa9-beb835d25e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600200"/>
            <a:ext cx="4800600" cy="4434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94360" y="1627632"/>
            <a:ext cx="5623560" cy="4434840"/>
          </a:xfrm>
          <a:prstGeom prst="roundRect">
            <a:avLst/>
          </a:prstGeom>
          <a:solidFill>
            <a:srgbClr val="EFF5F1"/>
          </a:solidFill>
          <a:ln>
            <a:solidFill>
              <a:srgbClr val="EFF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1901952"/>
            <a:ext cx="73152" cy="475488"/>
          </a:xfrm>
          <a:prstGeom prst="roundRect">
            <a:avLst/>
          </a:prstGeom>
          <a:solidFill>
            <a:srgbClr val="0A6CD6"/>
          </a:solidFill>
          <a:ln>
            <a:solidFill>
              <a:srgbClr val="0A6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1883664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4134"/>
                </a:solidFill>
                <a:latin typeface="Aptos"/>
              </a:rPr>
              <a:t>ISAP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1856232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B5E57"/>
                </a:solidFill>
                <a:latin typeface="Aptos"/>
              </a:rPr>
              <a:t>Dubai’da ta’lim olish imkonini beruvchi xalqaro dastur/grant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2651760"/>
            <a:ext cx="73152" cy="475488"/>
          </a:xfrm>
          <a:prstGeom prst="roundRect">
            <a:avLst/>
          </a:prstGeom>
          <a:solidFill>
            <a:srgbClr val="0A6CD6"/>
          </a:solidFill>
          <a:ln>
            <a:solidFill>
              <a:srgbClr val="0A6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263347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4134"/>
                </a:solidFill>
                <a:latin typeface="Aptos"/>
              </a:rPr>
              <a:t>Kelajak muhandislari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2606040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B5E57"/>
                </a:solidFill>
                <a:latin typeface="Aptos"/>
              </a:rPr>
              <a:t>Tanlov g‘olibligi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401568"/>
            <a:ext cx="73152" cy="475488"/>
          </a:xfrm>
          <a:prstGeom prst="roundRect">
            <a:avLst/>
          </a:prstGeom>
          <a:solidFill>
            <a:srgbClr val="0A6CD6"/>
          </a:solidFill>
          <a:ln>
            <a:solidFill>
              <a:srgbClr val="0A6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43000" y="3383279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4134"/>
                </a:solidFill>
                <a:latin typeface="Aptos"/>
              </a:rPr>
              <a:t>UzTech Hackathon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4680" y="3355848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B5E57"/>
                </a:solidFill>
                <a:latin typeface="Aptos"/>
              </a:rPr>
              <a:t>Hackathon g‘olibligi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4151376"/>
            <a:ext cx="73152" cy="475488"/>
          </a:xfrm>
          <a:prstGeom prst="roundRect">
            <a:avLst/>
          </a:prstGeom>
          <a:solidFill>
            <a:srgbClr val="0A6CD6"/>
          </a:solidFill>
          <a:ln>
            <a:solidFill>
              <a:srgbClr val="0A6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43000" y="4133088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4134"/>
                </a:solidFill>
                <a:latin typeface="Aptos"/>
              </a:rPr>
              <a:t>AI National Hackathon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680" y="4105656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B5E57"/>
                </a:solidFill>
                <a:latin typeface="Aptos"/>
              </a:rPr>
              <a:t>Hackathon g‘olibligi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4901184"/>
            <a:ext cx="73152" cy="475488"/>
          </a:xfrm>
          <a:prstGeom prst="roundRect">
            <a:avLst/>
          </a:prstGeom>
          <a:solidFill>
            <a:srgbClr val="0A6CD6"/>
          </a:solidFill>
          <a:ln>
            <a:solidFill>
              <a:srgbClr val="0A6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43000" y="4882896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4134"/>
                </a:solidFill>
                <a:latin typeface="Aptos"/>
              </a:rPr>
              <a:t>AI500 Hackathon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4855464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B5E57"/>
                </a:solidFill>
                <a:latin typeface="Aptos"/>
              </a:rPr>
              <a:t>Hackathon g‘olibligi</a:t>
            </a:r>
          </a:p>
        </p:txBody>
      </p:sp>
      <p:pic>
        <p:nvPicPr>
          <p:cNvPr id="25" name="Рисунок 24" descr="Изображение выглядит как текст, Графика, графический дизайн, Шрифт&#10;&#10;AI-generated content may be incorrect.">
            <a:extLst>
              <a:ext uri="{FF2B5EF4-FFF2-40B4-BE49-F238E27FC236}">
                <a16:creationId xmlns:a16="http://schemas.microsoft.com/office/drawing/2014/main" id="{7DFD84E3-1FBA-E13D-6DE4-60CD1FDEA8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0680" y="305054"/>
            <a:ext cx="985520" cy="492760"/>
          </a:xfrm>
          <a:prstGeom prst="rect">
            <a:avLst/>
          </a:prstGeom>
        </p:spPr>
      </p:pic>
      <p:pic>
        <p:nvPicPr>
          <p:cNvPr id="26" name="Рисунок 25" descr="Изображение выглядит как Графика, Шрифт, логотип, графический дизайн&#10;&#10;AI-generated content may be incorrect.">
            <a:extLst>
              <a:ext uri="{FF2B5EF4-FFF2-40B4-BE49-F238E27FC236}">
                <a16:creationId xmlns:a16="http://schemas.microsoft.com/office/drawing/2014/main" id="{9A724453-8E1F-1377-479F-3A78E67F72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080" y="310134"/>
            <a:ext cx="975359" cy="487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FE3D6"/>
          </a:solidFill>
          <a:ln>
            <a:solidFill>
              <a:srgbClr val="CFE3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475720" y="6656832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4B5E57"/>
                </a:solidFill>
                <a:latin typeface="Apto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38912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4134"/>
                </a:solidFill>
                <a:latin typeface="Aptos"/>
              </a:rPr>
              <a:t>MENING LOYIHALARIM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078992"/>
            <a:ext cx="1005840" cy="54864"/>
          </a:xfrm>
          <a:prstGeom prst="rect">
            <a:avLst/>
          </a:prstGeom>
          <a:solidFill>
            <a:srgbClr val="0A6CD6"/>
          </a:solidFill>
          <a:ln>
            <a:solidFill>
              <a:srgbClr val="0A6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20700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B5E57"/>
                </a:solidFill>
                <a:latin typeface="Aptos"/>
              </a:rPr>
              <a:t>Texnologiya, biznes va amaliy yechimlar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783080"/>
            <a:ext cx="3246120" cy="4206240"/>
          </a:xfrm>
          <a:prstGeom prst="roundRect">
            <a:avLst/>
          </a:prstGeom>
          <a:solidFill>
            <a:srgbClr val="EFF5F1"/>
          </a:solidFill>
          <a:ln>
            <a:solidFill>
              <a:srgbClr val="EFF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02996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6CD6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42032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4134"/>
                </a:solidFill>
                <a:latin typeface="Aptos"/>
              </a:rPr>
              <a:t>ATLAS PRINT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383280"/>
            <a:ext cx="26517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B5E57"/>
                </a:solidFill>
                <a:latin typeface="Aptos"/>
              </a:rPr>
              <a:t>Talabalar va yoshlar uchun dizayn, bosma mahsulotlar va reklama xizmatlarini birlashtiruvchi amaliy biznes loyiha.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33087" y="1783080"/>
            <a:ext cx="3246120" cy="4206240"/>
          </a:xfrm>
          <a:prstGeom prst="roundRect">
            <a:avLst/>
          </a:prstGeom>
          <a:solidFill>
            <a:srgbClr val="EFF5F1"/>
          </a:solidFill>
          <a:ln>
            <a:solidFill>
              <a:srgbClr val="EFF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07407" y="202996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6CD6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7" y="2542032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4134"/>
                </a:solidFill>
                <a:latin typeface="Aptos"/>
              </a:rPr>
              <a:t>AI TRAFFIC LIGHT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7" y="3383280"/>
            <a:ext cx="26517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B5E57"/>
                </a:solidFill>
                <a:latin typeface="Aptos"/>
              </a:rPr>
              <a:t>Transport oqimini kuzatib, avtomobillar soniga qarab svetoforning yashil chiroq vaqtini moslashtirishga qaratilgan AI loyiha.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71816" y="1783080"/>
            <a:ext cx="3246120" cy="4206240"/>
          </a:xfrm>
          <a:prstGeom prst="roundRect">
            <a:avLst/>
          </a:prstGeom>
          <a:solidFill>
            <a:srgbClr val="EFF5F1"/>
          </a:solidFill>
          <a:ln>
            <a:solidFill>
              <a:srgbClr val="EFF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46136" y="202996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6CD6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46136" y="2542032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4134"/>
                </a:solidFill>
                <a:latin typeface="Aptos"/>
              </a:rPr>
              <a:t>GALAXY WATCH HEALTH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6136" y="3383280"/>
            <a:ext cx="26517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B5E57"/>
                </a:solidFill>
                <a:latin typeface="Aptos"/>
              </a:rPr>
              <a:t>Galaxy Watch orqali yurak urish tezligini real vaqt rejimida kuzatish va ma’lumotlarni raqamli tizimga yetkazish konsepsiyasi.</a:t>
            </a:r>
          </a:p>
        </p:txBody>
      </p:sp>
      <p:pic>
        <p:nvPicPr>
          <p:cNvPr id="20" name="Рисунок 19" descr="Изображение выглядит как текст, Графика, графический дизайн, Шрифт&#10;&#10;AI-generated content may be incorrect.">
            <a:extLst>
              <a:ext uri="{FF2B5EF4-FFF2-40B4-BE49-F238E27FC236}">
                <a16:creationId xmlns:a16="http://schemas.microsoft.com/office/drawing/2014/main" id="{422E6073-61E5-F365-8560-2D9ABB1752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680" y="305054"/>
            <a:ext cx="985520" cy="492760"/>
          </a:xfrm>
          <a:prstGeom prst="rect">
            <a:avLst/>
          </a:prstGeom>
        </p:spPr>
      </p:pic>
      <p:pic>
        <p:nvPicPr>
          <p:cNvPr id="21" name="Рисунок 20" descr="Изображение выглядит как Графика, Шрифт, логотип, графический дизайн&#10;&#10;AI-generated content may be incorrect.">
            <a:extLst>
              <a:ext uri="{FF2B5EF4-FFF2-40B4-BE49-F238E27FC236}">
                <a16:creationId xmlns:a16="http://schemas.microsoft.com/office/drawing/2014/main" id="{72F3E65F-017B-3E26-3C79-0C46E5353D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080" y="310134"/>
            <a:ext cx="975359" cy="487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FE3D6"/>
          </a:solidFill>
          <a:ln>
            <a:solidFill>
              <a:srgbClr val="CFE3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475720" y="6656832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4B5E57"/>
                </a:solidFill>
                <a:latin typeface="Apto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38912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4134"/>
                </a:solidFill>
                <a:latin typeface="Aptos"/>
              </a:rPr>
              <a:t>SAYLOV OLDI DASTURI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078992"/>
            <a:ext cx="1005840" cy="54864"/>
          </a:xfrm>
          <a:prstGeom prst="rect">
            <a:avLst/>
          </a:prstGeom>
          <a:solidFill>
            <a:srgbClr val="0A6CD6"/>
          </a:solidFill>
          <a:ln>
            <a:solidFill>
              <a:srgbClr val="0A6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20700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B5E57"/>
                </a:solidFill>
                <a:latin typeface="Aptos"/>
              </a:rPr>
              <a:t>Talabalar uchun amaliy imkoniyatlar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737360"/>
            <a:ext cx="5330952" cy="1691640"/>
          </a:xfrm>
          <a:prstGeom prst="roundRect">
            <a:avLst/>
          </a:prstGeom>
          <a:solidFill>
            <a:srgbClr val="EFF5F1"/>
          </a:solidFill>
          <a:ln>
            <a:solidFill>
              <a:srgbClr val="EFF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193852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A6CD6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901952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B4134"/>
                </a:solidFill>
                <a:latin typeface="Aptos"/>
              </a:rPr>
              <a:t>URSU VOLUNTEERS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395728"/>
            <a:ext cx="40690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B5E57"/>
                </a:solidFill>
                <a:latin typeface="Aptos"/>
              </a:rPr>
              <a:t>Volontyorlik faoliyatini tizimli yo‘lga qo‘yish va faol talabalar jamoasini shakllantirish.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737360"/>
            <a:ext cx="5330952" cy="1691640"/>
          </a:xfrm>
          <a:prstGeom prst="roundRect">
            <a:avLst/>
          </a:prstGeom>
          <a:solidFill>
            <a:srgbClr val="EFF5F1"/>
          </a:solidFill>
          <a:ln>
            <a:solidFill>
              <a:srgbClr val="EFF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9672" y="193852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A6CD6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1901952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B4134"/>
                </a:solidFill>
                <a:latin typeface="Aptos"/>
              </a:rPr>
              <a:t>GRANTLAR AKADEMIYASI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2395728"/>
            <a:ext cx="40690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B5E57"/>
                </a:solidFill>
                <a:latin typeface="Aptos"/>
              </a:rPr>
              <a:t>Xalqaro grantlarni topish, CV, motivation letter va ariza topshirish bo‘yicha amaliy seminarlar.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794760"/>
            <a:ext cx="5330952" cy="1691640"/>
          </a:xfrm>
          <a:prstGeom prst="roundRect">
            <a:avLst/>
          </a:prstGeom>
          <a:solidFill>
            <a:srgbClr val="EFF5F1"/>
          </a:solidFill>
          <a:ln>
            <a:solidFill>
              <a:srgbClr val="EFF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0392" y="399592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A6CD6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959352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B4134"/>
                </a:solidFill>
                <a:latin typeface="Aptos"/>
              </a:rPr>
              <a:t>ILMIY KONFERENSIYALAR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453128"/>
            <a:ext cx="40690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B5E57"/>
                </a:solidFill>
                <a:latin typeface="Aptos"/>
              </a:rPr>
              <a:t>Yosh tadqiqotchilarni birlashtirish va ilmiy maqola hamda tadqiqotlarni xalqaro ilmiy muhitga olib chiqishga ko‘maklashish.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94760"/>
            <a:ext cx="5330952" cy="1691640"/>
          </a:xfrm>
          <a:prstGeom prst="roundRect">
            <a:avLst/>
          </a:prstGeom>
          <a:solidFill>
            <a:srgbClr val="EFF5F1"/>
          </a:solidFill>
          <a:ln>
            <a:solidFill>
              <a:srgbClr val="EFF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19672" y="399592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A6CD6"/>
                </a:solidFill>
                <a:latin typeface="Apto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959352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B4134"/>
                </a:solidFill>
                <a:latin typeface="Aptos"/>
              </a:rPr>
              <a:t>BIZNES &amp; DAROMAD MAKTABI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4453128"/>
            <a:ext cx="40690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B5E57"/>
                </a:solidFill>
                <a:latin typeface="Aptos"/>
              </a:rPr>
              <a:t>Freelance, IT, dizayn, marketing, xizmat ko‘rsatish va kichik biznes bo‘yicha amaliy treninglar.</a:t>
            </a:r>
          </a:p>
        </p:txBody>
      </p:sp>
      <p:pic>
        <p:nvPicPr>
          <p:cNvPr id="24" name="Рисунок 23" descr="Изображение выглядит как текст, Графика, графический дизайн, Шрифт&#10;&#10;AI-generated content may be incorrect.">
            <a:extLst>
              <a:ext uri="{FF2B5EF4-FFF2-40B4-BE49-F238E27FC236}">
                <a16:creationId xmlns:a16="http://schemas.microsoft.com/office/drawing/2014/main" id="{049710A5-39AF-477D-5357-50A4919C66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680" y="305054"/>
            <a:ext cx="985520" cy="492760"/>
          </a:xfrm>
          <a:prstGeom prst="rect">
            <a:avLst/>
          </a:prstGeom>
        </p:spPr>
      </p:pic>
      <p:pic>
        <p:nvPicPr>
          <p:cNvPr id="25" name="Рисунок 24" descr="Изображение выглядит как Графика, Шрифт, логотип, графический дизайн&#10;&#10;AI-generated content may be incorrect.">
            <a:extLst>
              <a:ext uri="{FF2B5EF4-FFF2-40B4-BE49-F238E27FC236}">
                <a16:creationId xmlns:a16="http://schemas.microsoft.com/office/drawing/2014/main" id="{979FDB81-3DAB-1FD4-2FC2-8BE2093C5D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080" y="310134"/>
            <a:ext cx="975359" cy="487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FE3D6"/>
          </a:solidFill>
          <a:ln>
            <a:solidFill>
              <a:srgbClr val="CFE3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475720" y="6656832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4B5E57"/>
                </a:solidFill>
                <a:latin typeface="Apto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38912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4134"/>
                </a:solidFill>
                <a:latin typeface="Aptos"/>
              </a:rPr>
              <a:t>01 — URSU VOLUNTEERS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078992"/>
            <a:ext cx="1005840" cy="54864"/>
          </a:xfrm>
          <a:prstGeom prst="rect">
            <a:avLst/>
          </a:prstGeom>
          <a:solidFill>
            <a:srgbClr val="0A6CD6"/>
          </a:solidFill>
          <a:ln>
            <a:solidFill>
              <a:srgbClr val="0A6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20700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B5E57"/>
                </a:solidFill>
                <a:latin typeface="Aptos"/>
              </a:rPr>
              <a:t>Faol talabalar uchun yagona volontyorlik jamoasi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737360"/>
            <a:ext cx="10972800" cy="4251960"/>
          </a:xfrm>
          <a:prstGeom prst="roundRect">
            <a:avLst/>
          </a:prstGeom>
          <a:solidFill>
            <a:srgbClr val="EAF3FC"/>
          </a:solidFill>
          <a:ln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A6CD6"/>
                </a:solidFill>
                <a:latin typeface="Aptos"/>
              </a:rPr>
              <a:t>G‘OYA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68880"/>
            <a:ext cx="9875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B4134"/>
                </a:solidFill>
                <a:latin typeface="Aptos"/>
              </a:rPr>
              <a:t>Universitet tadbirlari, ijtimoiy loyihalar va jamoat tashabbuslarida
faol talabalarni birlashtiruvchi volontyorlar jamoasi.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840480"/>
            <a:ext cx="3063240" cy="1417320"/>
          </a:xfrm>
          <a:prstGeom prst="roundRect">
            <a:avLst/>
          </a:prstGeom>
          <a:solidFill>
            <a:srgbClr val="EFF5F1"/>
          </a:solidFill>
          <a:ln>
            <a:solidFill>
              <a:srgbClr val="EFF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15568" y="40965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6CD6"/>
                </a:solidFill>
                <a:latin typeface="Aptos"/>
              </a:rPr>
              <a:t>JAMOA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498848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B5E57"/>
                </a:solidFill>
                <a:latin typeface="Aptos"/>
              </a:rPr>
              <a:t>Faol va tashabbuskor talabalarni birlashtirish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3840480"/>
            <a:ext cx="3063240" cy="1417320"/>
          </a:xfrm>
          <a:prstGeom prst="roundRect">
            <a:avLst/>
          </a:prstGeom>
          <a:solidFill>
            <a:srgbClr val="EFF5F1"/>
          </a:solidFill>
          <a:ln>
            <a:solidFill>
              <a:srgbClr val="EFF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36007" y="40965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6CD6"/>
                </a:solidFill>
                <a:latin typeface="Aptos"/>
              </a:rPr>
              <a:t>TAJRIBA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4498848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B5E57"/>
                </a:solidFill>
                <a:latin typeface="Aptos"/>
              </a:rPr>
              <a:t>Tadbirlar va loyihalarda real tajriba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79" y="3840480"/>
            <a:ext cx="3063240" cy="1417320"/>
          </a:xfrm>
          <a:prstGeom prst="roundRect">
            <a:avLst/>
          </a:prstGeom>
          <a:solidFill>
            <a:srgbClr val="EFF5F1"/>
          </a:solidFill>
          <a:ln>
            <a:solidFill>
              <a:srgbClr val="EFF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56448" y="40965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6CD6"/>
                </a:solidFill>
                <a:latin typeface="Aptos"/>
              </a:rPr>
              <a:t>PORTFOLIO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448" y="4498848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B5E57"/>
                </a:solidFill>
                <a:latin typeface="Aptos"/>
              </a:rPr>
              <a:t>Sertifikat, tavsiyanoma va faoliyat tarixi</a:t>
            </a:r>
          </a:p>
        </p:txBody>
      </p:sp>
      <p:pic>
        <p:nvPicPr>
          <p:cNvPr id="20" name="Рисунок 19" descr="Изображение выглядит как текст, Графика, графический дизайн, Шрифт&#10;&#10;AI-generated content may be incorrect.">
            <a:extLst>
              <a:ext uri="{FF2B5EF4-FFF2-40B4-BE49-F238E27FC236}">
                <a16:creationId xmlns:a16="http://schemas.microsoft.com/office/drawing/2014/main" id="{9DCB0552-FAF6-2BF5-177F-C1331833E6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680" y="305054"/>
            <a:ext cx="985520" cy="492760"/>
          </a:xfrm>
          <a:prstGeom prst="rect">
            <a:avLst/>
          </a:prstGeom>
        </p:spPr>
      </p:pic>
      <p:pic>
        <p:nvPicPr>
          <p:cNvPr id="21" name="Рисунок 20" descr="Изображение выглядит как Графика, Шрифт, логотип, графический дизайн&#10;&#10;AI-generated content may be incorrect.">
            <a:extLst>
              <a:ext uri="{FF2B5EF4-FFF2-40B4-BE49-F238E27FC236}">
                <a16:creationId xmlns:a16="http://schemas.microsoft.com/office/drawing/2014/main" id="{4C2DFE6B-447A-30F9-6F8B-7E71DE7C6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080" y="310134"/>
            <a:ext cx="975359" cy="487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FE3D6"/>
          </a:solidFill>
          <a:ln>
            <a:solidFill>
              <a:srgbClr val="CFE3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475720" y="6656832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4B5E57"/>
                </a:solidFill>
                <a:latin typeface="Apto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38912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4134"/>
                </a:solidFill>
                <a:latin typeface="Aptos"/>
              </a:rPr>
              <a:t>02 — GRANTLAR AKADEMIYASI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078992"/>
            <a:ext cx="1005840" cy="54864"/>
          </a:xfrm>
          <a:prstGeom prst="rect">
            <a:avLst/>
          </a:prstGeom>
          <a:solidFill>
            <a:srgbClr val="0A6CD6"/>
          </a:solidFill>
          <a:ln>
            <a:solidFill>
              <a:srgbClr val="0A6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20700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B5E57"/>
                </a:solidFill>
                <a:latin typeface="Aptos"/>
              </a:rPr>
              <a:t>Xalqaro imkoniyatlarga topshirish bo‘yicha amaliy seminarlar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3337560" cy="3429000"/>
          </a:xfrm>
          <a:prstGeom prst="roundRect">
            <a:avLst/>
          </a:prstGeom>
          <a:solidFill>
            <a:srgbClr val="EFF5F1"/>
          </a:solidFill>
          <a:ln>
            <a:solidFill>
              <a:srgbClr val="EFF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6CD6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2697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4134"/>
                </a:solidFill>
                <a:latin typeface="Aptos"/>
              </a:rPr>
              <a:t>IMKONIYATNI TOPISH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20440"/>
            <a:ext cx="2697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B5E57"/>
                </a:solidFill>
                <a:latin typeface="Aptos"/>
              </a:rPr>
              <a:t>Grant, exchange va xalqaro dasturlarni izlash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874519"/>
            <a:ext cx="3337560" cy="3429000"/>
          </a:xfrm>
          <a:prstGeom prst="roundRect">
            <a:avLst/>
          </a:prstGeom>
          <a:solidFill>
            <a:srgbClr val="EFF5F1"/>
          </a:solidFill>
          <a:ln>
            <a:solidFill>
              <a:srgbClr val="EFF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09160" y="21488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6CD6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2743200"/>
            <a:ext cx="2697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4134"/>
                </a:solidFill>
                <a:latin typeface="Aptos"/>
              </a:rPr>
              <a:t>HUJJATNI TAYYORLASH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520440"/>
            <a:ext cx="2697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B5E57"/>
                </a:solidFill>
                <a:latin typeface="Aptos"/>
              </a:rPr>
              <a:t>CV, motivation letter va kerakli hujjatlarni tayyorlash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874519"/>
            <a:ext cx="3337560" cy="3429000"/>
          </a:xfrm>
          <a:prstGeom prst="roundRect">
            <a:avLst/>
          </a:prstGeom>
          <a:solidFill>
            <a:srgbClr val="EFF5F1"/>
          </a:solidFill>
          <a:ln>
            <a:solidFill>
              <a:srgbClr val="EFF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03920" y="21488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6CD6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743200"/>
            <a:ext cx="2697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4134"/>
                </a:solidFill>
                <a:latin typeface="Aptos"/>
              </a:rPr>
              <a:t>ARIZA TOPSHIRISH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520440"/>
            <a:ext cx="2697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B5E57"/>
                </a:solidFill>
                <a:latin typeface="Aptos"/>
              </a:rPr>
              <a:t>Platformalarda ariza yuborish va jarayonni kuzatish</a:t>
            </a:r>
          </a:p>
        </p:txBody>
      </p:sp>
      <p:pic>
        <p:nvPicPr>
          <p:cNvPr id="20" name="Рисунок 19" descr="Изображение выглядит как текст, Графика, графический дизайн, Шрифт&#10;&#10;AI-generated content may be incorrect.">
            <a:extLst>
              <a:ext uri="{FF2B5EF4-FFF2-40B4-BE49-F238E27FC236}">
                <a16:creationId xmlns:a16="http://schemas.microsoft.com/office/drawing/2014/main" id="{94667507-F457-751A-C568-19FF93F57D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680" y="305054"/>
            <a:ext cx="985520" cy="492760"/>
          </a:xfrm>
          <a:prstGeom prst="rect">
            <a:avLst/>
          </a:prstGeom>
        </p:spPr>
      </p:pic>
      <p:pic>
        <p:nvPicPr>
          <p:cNvPr id="21" name="Рисунок 20" descr="Изображение выглядит как Графика, Шрифт, логотип, графический дизайн&#10;&#10;AI-generated content may be incorrect.">
            <a:extLst>
              <a:ext uri="{FF2B5EF4-FFF2-40B4-BE49-F238E27FC236}">
                <a16:creationId xmlns:a16="http://schemas.microsoft.com/office/drawing/2014/main" id="{E3344AC7-A834-8E09-517C-31ED7081C6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080" y="310134"/>
            <a:ext cx="975359" cy="487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FE3D6"/>
          </a:solidFill>
          <a:ln>
            <a:solidFill>
              <a:srgbClr val="CFE3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475720" y="6656832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4B5E57"/>
                </a:solidFill>
                <a:latin typeface="Apto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38912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4134"/>
                </a:solidFill>
                <a:latin typeface="Aptos"/>
              </a:rPr>
              <a:t>03 — ILMIY VA XALQARO KONFERENSIYALAR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078992"/>
            <a:ext cx="1005840" cy="54864"/>
          </a:xfrm>
          <a:prstGeom prst="rect">
            <a:avLst/>
          </a:prstGeom>
          <a:solidFill>
            <a:srgbClr val="0A6CD6"/>
          </a:solidFill>
          <a:ln>
            <a:solidFill>
              <a:srgbClr val="0A6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20700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B5E57"/>
                </a:solidFill>
                <a:latin typeface="Aptos"/>
              </a:rPr>
              <a:t>Talaba ilmiy ishini taqdimotdan xalqaro darajadagi tajribaga olib chiqish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737360"/>
            <a:ext cx="10972800" cy="4297680"/>
          </a:xfrm>
          <a:prstGeom prst="roundRect">
            <a:avLst/>
          </a:prstGeom>
          <a:solidFill>
            <a:srgbClr val="EFF5F1"/>
          </a:solidFill>
          <a:ln>
            <a:solidFill>
              <a:srgbClr val="EFF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05740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6CD6"/>
                </a:solidFill>
                <a:latin typeface="Aptos"/>
              </a:rPr>
              <a:t>ILMIY G‘OYA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96312"/>
            <a:ext cx="4297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B4134"/>
                </a:solidFill>
                <a:latin typeface="Aptos"/>
              </a:rPr>
              <a:t>Talaba va yosh tadqiqotchilarning mavzularini aniqlash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05740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6CD6"/>
                </a:solidFill>
                <a:latin typeface="Aptos"/>
              </a:rPr>
              <a:t>TAYYORLASH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496312"/>
            <a:ext cx="4297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B4134"/>
                </a:solidFill>
                <a:latin typeface="Aptos"/>
              </a:rPr>
              <a:t>Maqola, tezis, taqdimot va nutq ustida ishlash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84048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6CD6"/>
                </a:solidFill>
                <a:latin typeface="Aptos"/>
              </a:rPr>
              <a:t>KONFERENSIYA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79392"/>
            <a:ext cx="4297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B4134"/>
                </a:solidFill>
                <a:latin typeface="Aptos"/>
              </a:rPr>
              <a:t>Universitet va xalqaro ishtirokchilar bilan ilmiy muloqot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84048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6CD6"/>
                </a:solidFill>
                <a:latin typeface="Aptos"/>
              </a:rPr>
              <a:t>NATIjA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279392"/>
            <a:ext cx="4297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B4134"/>
                </a:solidFill>
                <a:latin typeface="Aptos"/>
              </a:rPr>
              <a:t>Ilmiy portfolioni kengaytirish va yangi hamkorliklar</a:t>
            </a:r>
          </a:p>
        </p:txBody>
      </p:sp>
      <p:pic>
        <p:nvPicPr>
          <p:cNvPr id="17" name="Рисунок 16" descr="Изображение выглядит как текст, Графика, графический дизайн, Шрифт&#10;&#10;AI-generated content may be incorrect.">
            <a:extLst>
              <a:ext uri="{FF2B5EF4-FFF2-40B4-BE49-F238E27FC236}">
                <a16:creationId xmlns:a16="http://schemas.microsoft.com/office/drawing/2014/main" id="{D0E4D693-E5BA-D032-4321-408B7BEAE0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680" y="305054"/>
            <a:ext cx="985520" cy="492760"/>
          </a:xfrm>
          <a:prstGeom prst="rect">
            <a:avLst/>
          </a:prstGeom>
        </p:spPr>
      </p:pic>
      <p:pic>
        <p:nvPicPr>
          <p:cNvPr id="18" name="Рисунок 17" descr="Изображение выглядит как Графика, Шрифт, логотип, графический дизайн&#10;&#10;AI-generated content may be incorrect.">
            <a:extLst>
              <a:ext uri="{FF2B5EF4-FFF2-40B4-BE49-F238E27FC236}">
                <a16:creationId xmlns:a16="http://schemas.microsoft.com/office/drawing/2014/main" id="{18A1A79C-CCDE-BB13-9E16-76EBBFB421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080" y="310134"/>
            <a:ext cx="975359" cy="487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FE3D6"/>
          </a:solidFill>
          <a:ln>
            <a:solidFill>
              <a:srgbClr val="CFE3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475720" y="6656832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4B5E57"/>
                </a:solidFill>
                <a:latin typeface="Apto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38912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4134"/>
                </a:solidFill>
                <a:latin typeface="Aptos"/>
              </a:rPr>
              <a:t>04 — BIZNES &amp; DAROMAD MAKTABI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078992"/>
            <a:ext cx="1005840" cy="54864"/>
          </a:xfrm>
          <a:prstGeom prst="rect">
            <a:avLst/>
          </a:prstGeom>
          <a:solidFill>
            <a:srgbClr val="0A6CD6"/>
          </a:solidFill>
          <a:ln>
            <a:solidFill>
              <a:srgbClr val="0A6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20700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B5E57"/>
                </a:solidFill>
                <a:latin typeface="Aptos"/>
              </a:rPr>
              <a:t>O‘qish bilan birga amaliy ko‘nikma va daromad imkoniyatlari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737360"/>
            <a:ext cx="10972800" cy="4297680"/>
          </a:xfrm>
          <a:prstGeom prst="roundRect">
            <a:avLst/>
          </a:prstGeom>
          <a:solidFill>
            <a:srgbClr val="EAF3FC"/>
          </a:solidFill>
          <a:ln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6CD6"/>
                </a:solidFill>
                <a:latin typeface="Aptos"/>
              </a:rPr>
              <a:t>YO‘NALISHLAR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697480"/>
            <a:ext cx="2971800" cy="658368"/>
          </a:xfrm>
          <a:prstGeom prst="roundRect">
            <a:avLst/>
          </a:prstGeom>
          <a:solidFill>
            <a:srgbClr val="EFF5F1"/>
          </a:solidFill>
          <a:ln>
            <a:solidFill>
              <a:srgbClr val="EFF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28803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4134"/>
                </a:solidFill>
                <a:latin typeface="Aptos"/>
              </a:rPr>
              <a:t>Freelance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697480"/>
            <a:ext cx="2971800" cy="658368"/>
          </a:xfrm>
          <a:prstGeom prst="roundRect">
            <a:avLst/>
          </a:prstGeom>
          <a:solidFill>
            <a:srgbClr val="EFF5F1"/>
          </a:solidFill>
          <a:ln>
            <a:solidFill>
              <a:srgbClr val="EFF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0288" y="28803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4134"/>
                </a:solidFill>
                <a:latin typeface="Aptos"/>
              </a:rPr>
              <a:t>IT va raqamli kasblar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2697480"/>
            <a:ext cx="2971800" cy="658368"/>
          </a:xfrm>
          <a:prstGeom prst="roundRect">
            <a:avLst/>
          </a:prstGeom>
          <a:solidFill>
            <a:srgbClr val="EFF5F1"/>
          </a:solidFill>
          <a:ln>
            <a:solidFill>
              <a:srgbClr val="EFF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65008" y="28803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4134"/>
                </a:solidFill>
                <a:latin typeface="Aptos"/>
              </a:rPr>
              <a:t>Dizayn va kontent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749039"/>
            <a:ext cx="2971800" cy="658368"/>
          </a:xfrm>
          <a:prstGeom prst="roundRect">
            <a:avLst/>
          </a:prstGeom>
          <a:solidFill>
            <a:srgbClr val="EFF5F1"/>
          </a:solidFill>
          <a:ln>
            <a:solidFill>
              <a:srgbClr val="EFF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15568" y="39319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4134"/>
                </a:solidFill>
                <a:latin typeface="Aptos"/>
              </a:rPr>
              <a:t>Marketing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749039"/>
            <a:ext cx="2971800" cy="658368"/>
          </a:xfrm>
          <a:prstGeom prst="roundRect">
            <a:avLst/>
          </a:prstGeom>
          <a:solidFill>
            <a:srgbClr val="EFF5F1"/>
          </a:solidFill>
          <a:ln>
            <a:solidFill>
              <a:srgbClr val="EFF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39319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4134"/>
                </a:solidFill>
                <a:latin typeface="Aptos"/>
              </a:rPr>
              <a:t>Xizmat ko‘rsatish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3749039"/>
            <a:ext cx="2971800" cy="658368"/>
          </a:xfrm>
          <a:prstGeom prst="roundRect">
            <a:avLst/>
          </a:prstGeom>
          <a:solidFill>
            <a:srgbClr val="EFF5F1"/>
          </a:solidFill>
          <a:ln>
            <a:solidFill>
              <a:srgbClr val="EFF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65008" y="39319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4134"/>
                </a:solidFill>
                <a:latin typeface="Aptos"/>
              </a:rPr>
              <a:t>Kichik biznes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0749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A6CD6"/>
                </a:solidFill>
                <a:latin typeface="Aptos"/>
              </a:rPr>
              <a:t>Maqsad: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010912"/>
            <a:ext cx="8961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B4134"/>
                </a:solidFill>
                <a:latin typeface="Aptos"/>
              </a:rPr>
              <a:t>talabalarga real bozor ko‘nikmalarini o‘rgatish va o‘z imkoniyatlaridan foydalanish yo‘llarini ko‘rsatish.</a:t>
            </a:r>
          </a:p>
        </p:txBody>
      </p:sp>
      <p:pic>
        <p:nvPicPr>
          <p:cNvPr id="24" name="Рисунок 23" descr="Изображение выглядит как текст, Графика, графический дизайн, Шрифт&#10;&#10;AI-generated content may be incorrect.">
            <a:extLst>
              <a:ext uri="{FF2B5EF4-FFF2-40B4-BE49-F238E27FC236}">
                <a16:creationId xmlns:a16="http://schemas.microsoft.com/office/drawing/2014/main" id="{C223F57E-4C69-293D-B414-496C6434B8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680" y="305054"/>
            <a:ext cx="985520" cy="492760"/>
          </a:xfrm>
          <a:prstGeom prst="rect">
            <a:avLst/>
          </a:prstGeom>
        </p:spPr>
      </p:pic>
      <p:pic>
        <p:nvPicPr>
          <p:cNvPr id="25" name="Рисунок 24" descr="Изображение выглядит как Графика, Шрифт, логотип, графический дизайн&#10;&#10;AI-generated content may be incorrect.">
            <a:extLst>
              <a:ext uri="{FF2B5EF4-FFF2-40B4-BE49-F238E27FC236}">
                <a16:creationId xmlns:a16="http://schemas.microsoft.com/office/drawing/2014/main" id="{EFD3434B-3E9A-D618-A44D-8A12DDECCC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080" y="310134"/>
            <a:ext cx="975359" cy="487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FE3D6"/>
          </a:solidFill>
          <a:ln>
            <a:solidFill>
              <a:srgbClr val="CFE3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475720" y="6656832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4B5E57"/>
                </a:solidFill>
                <a:latin typeface="Apto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38912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4134"/>
                </a:solidFill>
                <a:latin typeface="Aptos"/>
              </a:rPr>
              <a:t>AMALGA OSHIRISH TAMOYILI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078992"/>
            <a:ext cx="1005840" cy="54864"/>
          </a:xfrm>
          <a:prstGeom prst="rect">
            <a:avLst/>
          </a:prstGeom>
          <a:solidFill>
            <a:srgbClr val="0A6CD6"/>
          </a:solidFill>
          <a:ln>
            <a:solidFill>
              <a:srgbClr val="0A6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20700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B5E57"/>
                </a:solidFill>
                <a:latin typeface="Aptos"/>
              </a:rPr>
              <a:t>Har bir tashabbus — aniq faoliyat, hamkorlik va natija asosida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965960"/>
            <a:ext cx="2514600" cy="3383280"/>
          </a:xfrm>
          <a:prstGeom prst="roundRect">
            <a:avLst/>
          </a:prstGeom>
          <a:solidFill>
            <a:srgbClr val="EFF5F1"/>
          </a:solidFill>
          <a:ln>
            <a:solidFill>
              <a:srgbClr val="EFF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6CD6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4134"/>
                </a:solidFill>
                <a:latin typeface="Aptos"/>
              </a:rPr>
              <a:t>1. TINGLASH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66160"/>
            <a:ext cx="2011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B5E57"/>
                </a:solidFill>
                <a:latin typeface="Aptos"/>
              </a:rPr>
              <a:t>Talabalar ehtiyoji va takliflarini yig‘ish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79" y="1965960"/>
            <a:ext cx="2514600" cy="3383280"/>
          </a:xfrm>
          <a:prstGeom prst="roundRect">
            <a:avLst/>
          </a:prstGeom>
          <a:solidFill>
            <a:srgbClr val="EFF5F1"/>
          </a:solidFill>
          <a:ln>
            <a:solidFill>
              <a:srgbClr val="EFF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11879" y="22402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6CD6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79" y="2788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4134"/>
                </a:solidFill>
                <a:latin typeface="Aptos"/>
              </a:rPr>
              <a:t>2. TASHKIL ETISH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79" y="3566160"/>
            <a:ext cx="2011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B5E57"/>
                </a:solidFill>
                <a:latin typeface="Aptos"/>
              </a:rPr>
              <a:t>Jamoa, mentor va hamkorlarni birlashtirish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965960"/>
            <a:ext cx="2514600" cy="3383280"/>
          </a:xfrm>
          <a:prstGeom prst="roundRect">
            <a:avLst/>
          </a:prstGeom>
          <a:solidFill>
            <a:srgbClr val="EFF5F1"/>
          </a:solidFill>
          <a:ln>
            <a:solidFill>
              <a:srgbClr val="EFF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22402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6CD6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788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4134"/>
                </a:solidFill>
                <a:latin typeface="Aptos"/>
              </a:rPr>
              <a:t>3. AMALGA OSHIRISH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566160"/>
            <a:ext cx="2011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B5E57"/>
                </a:solidFill>
                <a:latin typeface="Aptos"/>
              </a:rPr>
              <a:t>Seminar, loyiha, konferensiya va treninglarni o‘tkazish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19" y="1965960"/>
            <a:ext cx="2514600" cy="3383280"/>
          </a:xfrm>
          <a:prstGeom prst="roundRect">
            <a:avLst/>
          </a:prstGeom>
          <a:solidFill>
            <a:srgbClr val="EFF5F1"/>
          </a:solidFill>
          <a:ln>
            <a:solidFill>
              <a:srgbClr val="EFF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89719" y="22402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6CD6"/>
                </a:solidFill>
                <a:latin typeface="Apto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19" y="2788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4134"/>
                </a:solidFill>
                <a:latin typeface="Aptos"/>
              </a:rPr>
              <a:t>4. HISOBDORLIK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19" y="3566160"/>
            <a:ext cx="2011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B5E57"/>
                </a:solidFill>
                <a:latin typeface="Aptos"/>
              </a:rPr>
              <a:t>Natijalarni ochiq ko‘rsatish va takliflarni takomillashtirish</a:t>
            </a:r>
          </a:p>
        </p:txBody>
      </p:sp>
      <p:pic>
        <p:nvPicPr>
          <p:cNvPr id="24" name="Рисунок 23" descr="Изображение выглядит как текст, Графика, графический дизайн, Шрифт&#10;&#10;AI-generated content may be incorrect.">
            <a:extLst>
              <a:ext uri="{FF2B5EF4-FFF2-40B4-BE49-F238E27FC236}">
                <a16:creationId xmlns:a16="http://schemas.microsoft.com/office/drawing/2014/main" id="{73162A9D-244F-673D-E02B-F2879AE911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680" y="305054"/>
            <a:ext cx="985520" cy="492760"/>
          </a:xfrm>
          <a:prstGeom prst="rect">
            <a:avLst/>
          </a:prstGeom>
        </p:spPr>
      </p:pic>
      <p:pic>
        <p:nvPicPr>
          <p:cNvPr id="25" name="Рисунок 24" descr="Изображение выглядит как Графика, Шрифт, логотип, графический дизайн&#10;&#10;AI-generated content may be incorrect.">
            <a:extLst>
              <a:ext uri="{FF2B5EF4-FFF2-40B4-BE49-F238E27FC236}">
                <a16:creationId xmlns:a16="http://schemas.microsoft.com/office/drawing/2014/main" id="{0514AE77-DF59-F3C2-A661-6512F9E9C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080" y="310134"/>
            <a:ext cx="975359" cy="4876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FE3D6"/>
          </a:solidFill>
          <a:ln>
            <a:solidFill>
              <a:srgbClr val="CFE3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475720" y="6656832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4B5E57"/>
                </a:solidFill>
                <a:latin typeface="Apto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4134"/>
                </a:solidFill>
                <a:latin typeface="Aptos"/>
              </a:rPr>
              <a:t>BOBOJONOV A'LOBEK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783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A6CD6"/>
                </a:solidFill>
                <a:latin typeface="Aptos"/>
              </a:rPr>
              <a:t>Yoshlar yetakchiligi uchun nomzod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331720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B5E57"/>
                </a:solidFill>
                <a:latin typeface="Aptos"/>
              </a:rPr>
              <a:t>5-MUHiM TASHABBUSNING 5-YO‘NALISHI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3063240"/>
            <a:ext cx="5943600" cy="73152"/>
          </a:xfrm>
          <a:prstGeom prst="rect">
            <a:avLst/>
          </a:prstGeom>
          <a:solidFill>
            <a:srgbClr val="0A6CD6"/>
          </a:solidFill>
          <a:ln>
            <a:solidFill>
              <a:srgbClr val="0A6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34015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B4134"/>
                </a:solidFill>
                <a:latin typeface="Aptos"/>
              </a:rPr>
              <a:t>Ilm • imkoniyat • tajriba • tashabbus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892040"/>
            <a:ext cx="5852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B5E57"/>
                </a:solidFill>
                <a:latin typeface="Aptos"/>
              </a:rPr>
              <a:t>E’TIBORINGIZ UCHUN RAHMAT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5120640"/>
            <a:ext cx="1005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500" b="1">
                <a:solidFill>
                  <a:srgbClr val="0A6CD6"/>
                </a:solidFill>
                <a:latin typeface="Aptos"/>
              </a:rPr>
              <a:t>2026</a:t>
            </a:r>
          </a:p>
        </p:txBody>
      </p:sp>
      <p:pic>
        <p:nvPicPr>
          <p:cNvPr id="12" name="Рисунок 11" descr="Изображение выглядит как текст, Графика, графический дизайн, Шрифт&#10;&#10;AI-generated content may be incorrect.">
            <a:extLst>
              <a:ext uri="{FF2B5EF4-FFF2-40B4-BE49-F238E27FC236}">
                <a16:creationId xmlns:a16="http://schemas.microsoft.com/office/drawing/2014/main" id="{01726502-CBD2-21AB-BBAF-4EBEFFB53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680" y="305054"/>
            <a:ext cx="985520" cy="492760"/>
          </a:xfrm>
          <a:prstGeom prst="rect">
            <a:avLst/>
          </a:prstGeom>
        </p:spPr>
      </p:pic>
      <p:pic>
        <p:nvPicPr>
          <p:cNvPr id="13" name="Рисунок 12" descr="Изображение выглядит как Графика, Шрифт, логотип, графический дизайн&#10;&#10;AI-generated content may be incorrect.">
            <a:extLst>
              <a:ext uri="{FF2B5EF4-FFF2-40B4-BE49-F238E27FC236}">
                <a16:creationId xmlns:a16="http://schemas.microsoft.com/office/drawing/2014/main" id="{6A5F36AD-C2AE-60EA-BB17-85FF786806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080" y="310134"/>
            <a:ext cx="975359" cy="487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606</Words>
  <Application>Microsoft Office PowerPoint</Application>
  <PresentationFormat>Широкоэкранный</PresentationFormat>
  <Paragraphs>134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5" baseType="lpstr">
      <vt:lpstr>Aptos</vt:lpstr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Alo</dc:creator>
  <cp:keywords/>
  <dc:description>generated using python-pptx</dc:description>
  <cp:lastModifiedBy>Alo</cp:lastModifiedBy>
  <cp:revision>2</cp:revision>
  <dcterms:created xsi:type="dcterms:W3CDTF">2013-01-27T09:14:16Z</dcterms:created>
  <dcterms:modified xsi:type="dcterms:W3CDTF">2026-09-28T18:19:07Z</dcterms:modified>
  <cp:category/>
</cp:coreProperties>
</file>